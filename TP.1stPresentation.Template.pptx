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26" dt="2026-10-15T11:03:28.118"/>
    <p1510:client id="{2E5AE1CE-CFE2-4398-BF3C-D40BFD922E03}" v="1312" dt="2026-10-15T20:51:00.762"/>
    <p1510:client id="{8C34DE16-C739-688F-5505-FA73E9D80E32}" v="265" dt="2026-10-15T20:47:33.456"/>
    <p1510:client id="{A24B914F-D55A-431B-40CE-37E0F48979F0}" v="418" dt="2026-10-15T10:27:58.744"/>
    <p1510:client id="{AA9BE87C-910B-21C8-E48D-192776E06A1B}" v="6" dt="2026-10-15T13:17:59.504"/>
    <p1510:client id="{F1C2BD53-2EFA-99C8-32D6-16B6FFD58EE1}" v="16" dt="2026-10-15T21:06:05.1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790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19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53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97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2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/>
            <a:ahLst/>
            <a:cxnLst/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2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7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11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/>
            <a:ahLst/>
            <a:cxnLst/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003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72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145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5962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1971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72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145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93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807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36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96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0703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651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134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926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33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53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3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111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52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dirty="0"/>
              <a:t>10/22/2026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0B3A8078-5A32-4B09-ABA5-7ABEFD22E08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6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  <p:sldLayoutId id="2147483750" r:id="rId18"/>
    <p:sldLayoutId id="2147483751" r:id="rId19"/>
    <p:sldLayoutId id="2147483752" r:id="rId20"/>
    <p:sldLayoutId id="2147483753" r:id="rId21"/>
    <p:sldLayoutId id="2147483754" r:id="rId22"/>
    <p:sldLayoutId id="2147483755" r:id="rId23"/>
    <p:sldLayoutId id="2147483756" r:id="rId24"/>
    <p:sldLayoutId id="2147483757" r:id="rId25"/>
    <p:sldLayoutId id="2147483758" r:id="rId26"/>
    <p:sldLayoutId id="2147483759" r:id="rId27"/>
    <p:sldLayoutId id="2147483760" r:id="rId28"/>
    <p:sldLayoutId id="2147483761" r:id="rId29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www.frontiersin.org/journals/plant-science/articles/10.3389/fpls.2025.1616656/full" TargetMode="Externa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12E0-F561-9475-2E3C-F64C5B7C8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63786-1EAA-C560-E551-DA42F2E741B8}"/>
              </a:ext>
            </a:extLst>
          </p:cNvPr>
          <p:cNvSpPr/>
          <p:nvPr/>
        </p:nvSpPr>
        <p:spPr>
          <a:xfrm>
            <a:off x="0" y="0"/>
            <a:ext cx="1226003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/>
              <a:t>contextualize the question</a:t>
            </a:r>
          </a:p>
          <a:p>
            <a:pPr marL="342900" indent="-342900">
              <a:buAutoNum type="arabicPeriod"/>
            </a:pPr>
            <a:r>
              <a:rPr lang="en-US"/>
              <a:t>explain how you ended up with it</a:t>
            </a:r>
          </a:p>
          <a:p>
            <a:pPr marL="342900" indent="-342900">
              <a:buAutoNum type="arabicPeriod"/>
            </a:pPr>
            <a:r>
              <a:rPr lang="en-US"/>
              <a:t>mention other work that as looked into this topic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Anything else you believe fits here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CD9F6B-14A8-A6B1-3794-8C46BBA543D7}"/>
              </a:ext>
            </a:extLst>
          </p:cNvPr>
          <p:cNvSpPr/>
          <p:nvPr/>
        </p:nvSpPr>
        <p:spPr>
          <a:xfrm rot="2760000">
            <a:off x="-932053" y="-4309116"/>
            <a:ext cx="15916711" cy="15581359"/>
          </a:xfrm>
          <a:prstGeom prst="pie">
            <a:avLst/>
          </a:prstGeom>
          <a:solidFill>
            <a:schemeClr val="accent6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solidFill>
                <a:schemeClr val="bg1"/>
              </a:solidFill>
              <a:latin typeface="Century Schoolbook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12691-2E30-7D41-8B1C-B9D2D2103088}"/>
              </a:ext>
            </a:extLst>
          </p:cNvPr>
          <p:cNvSpPr txBox="1"/>
          <p:nvPr/>
        </p:nvSpPr>
        <p:spPr>
          <a:xfrm>
            <a:off x="7600140" y="6543358"/>
            <a:ext cx="253924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>
                <a:solidFill>
                  <a:srgbClr val="FFFFFF"/>
                </a:solidFill>
                <a:latin typeface="Century Schoolbook"/>
              </a:rPr>
              <a:t>Sofia Oliveira 63481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690FB6-7FAA-A637-EB11-3285795634C8}"/>
              </a:ext>
            </a:extLst>
          </p:cNvPr>
          <p:cNvSpPr/>
          <p:nvPr/>
        </p:nvSpPr>
        <p:spPr>
          <a:xfrm>
            <a:off x="6095529" y="2862943"/>
            <a:ext cx="1151165" cy="113211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70E735-DD14-1917-C094-8A5D0BF03E26}"/>
              </a:ext>
            </a:extLst>
          </p:cNvPr>
          <p:cNvSpPr txBox="1"/>
          <p:nvPr/>
        </p:nvSpPr>
        <p:spPr>
          <a:xfrm>
            <a:off x="270218" y="1890895"/>
            <a:ext cx="696623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2200">
                <a:solidFill>
                  <a:schemeClr val="bg1"/>
                </a:solidFill>
                <a:latin typeface="Century Schoolbook"/>
                <a:cs typeface="Segoe UI"/>
              </a:rPr>
              <a:t>Como chegamos à pergunta: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PT" sz="2000">
                <a:solidFill>
                  <a:schemeClr val="bg1"/>
                </a:solidFill>
                <a:latin typeface="Century Schoolbook"/>
                <a:cs typeface="Segoe UI"/>
              </a:rPr>
              <a:t>Facilitar a recolha de amostras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PT" sz="1100">
              <a:solidFill>
                <a:schemeClr val="bg1"/>
              </a:solidFill>
              <a:latin typeface="Century Schoolbook"/>
              <a:cs typeface="Segoe UI"/>
            </a:endParaRPr>
          </a:p>
          <a:p>
            <a:r>
              <a:rPr lang="pt-PT" sz="2200">
                <a:solidFill>
                  <a:schemeClr val="bg1"/>
                </a:solidFill>
                <a:latin typeface="Century Schoolbook"/>
                <a:cs typeface="Segoe UI"/>
              </a:rPr>
              <a:t>Artigos Científicos que abordam o nosso tema: </a:t>
            </a:r>
            <a:endParaRPr lang="en-US" sz="2200">
              <a:solidFill>
                <a:schemeClr val="bg1"/>
              </a:solidFill>
              <a:latin typeface="Century Schoolbook"/>
              <a:cs typeface="Segoe UI"/>
            </a:endParaRPr>
          </a:p>
          <a:p>
            <a:r>
              <a:rPr lang="pt-PT" sz="1400">
                <a:solidFill>
                  <a:schemeClr val="bg1"/>
                </a:solidFill>
                <a:latin typeface="Century Schoolbook"/>
                <a:cs typeface="Segoe UI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2º- https://pmc.ncbi.nlm.nih.gov/articles/PMC11963494/</a:t>
            </a:r>
            <a:r>
              <a:rPr lang="pt-PT" sz="1400">
                <a:solidFill>
                  <a:schemeClr val="bg1"/>
                </a:solidFill>
                <a:latin typeface="Century Schoolbook"/>
                <a:cs typeface="Segoe UI"/>
              </a:rPr>
              <a:t>: consultado a 13/10/2026</a:t>
            </a:r>
            <a:endParaRPr lang="en-US" sz="2200">
              <a:solidFill>
                <a:schemeClr val="bg1"/>
              </a:solidFill>
              <a:latin typeface="Century Schoolbook"/>
              <a:cs typeface="Segoe U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370B6C-1518-675E-02F7-66A04A0DAAAF}"/>
              </a:ext>
            </a:extLst>
          </p:cNvPr>
          <p:cNvSpPr/>
          <p:nvPr/>
        </p:nvSpPr>
        <p:spPr>
          <a:xfrm>
            <a:off x="403742" y="165291"/>
            <a:ext cx="8189385" cy="17264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7B26F-B970-3EA3-2A00-A612574E804A}"/>
              </a:ext>
            </a:extLst>
          </p:cNvPr>
          <p:cNvSpPr txBox="1"/>
          <p:nvPr/>
        </p:nvSpPr>
        <p:spPr>
          <a:xfrm>
            <a:off x="556966" y="257940"/>
            <a:ext cx="788293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PT" sz="2400">
                <a:solidFill>
                  <a:srgbClr val="FFFFFF"/>
                </a:solidFill>
                <a:latin typeface="Century Schoolbook"/>
              </a:rPr>
              <a:t>Como é que o comprimento da folha é influenciado pela distância desta ao solo e de que modo está relacionado com a presença de danos em diferentes espécies de árvores?</a:t>
            </a:r>
            <a:endParaRPr lang="pt-PT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685DC5-2485-3CAD-CB67-792A470D17E5}"/>
              </a:ext>
            </a:extLst>
          </p:cNvPr>
          <p:cNvSpPr txBox="1"/>
          <p:nvPr/>
        </p:nvSpPr>
        <p:spPr>
          <a:xfrm>
            <a:off x="9099739" y="230140"/>
            <a:ext cx="585241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1400">
                <a:solidFill>
                  <a:schemeClr val="bg1"/>
                </a:solidFill>
                <a:latin typeface="Comic Sans MS" panose="030F0702030302020204" pitchFamily="66" charset="0"/>
                <a:cs typeface="Segoe UI"/>
              </a:rPr>
              <a:t>Pergunta </a:t>
            </a:r>
            <a:r>
              <a:rPr lang="pt-PT" sz="1400">
                <a:solidFill>
                  <a:schemeClr val="bg1"/>
                </a:solidFill>
                <a:latin typeface="Comic Sans MS" panose="030F0702030302020204" pitchFamily="66" charset="0"/>
                <a:cs typeface="Segoe UI"/>
                <a:sym typeface="Wingdings" panose="05000000000000000000" pitchFamily="2" charset="2"/>
              </a:rPr>
              <a:t></a:t>
            </a:r>
            <a:endParaRPr lang="en-GB" sz="1400">
              <a:solidFill>
                <a:schemeClr val="bg1"/>
              </a:solidFill>
              <a:latin typeface="Comic Sans MS" panose="030F0702030302020204" pitchFamily="66" charset="0"/>
              <a:cs typeface="Segoe UI"/>
            </a:endParaRPr>
          </a:p>
        </p:txBody>
      </p: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D36F1DC-05FE-8422-31A2-58DED79D5456}"/>
              </a:ext>
            </a:extLst>
          </p:cNvPr>
          <p:cNvCxnSpPr>
            <a:cxnSpLocks/>
          </p:cNvCxnSpPr>
          <p:nvPr/>
        </p:nvCxnSpPr>
        <p:spPr>
          <a:xfrm rot="10800000" flipV="1">
            <a:off x="8642095" y="389991"/>
            <a:ext cx="455334" cy="37806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490A2823-356A-6664-0344-59627D8C9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" t="1973" r="975" b="1"/>
          <a:stretch>
            <a:fillRect/>
          </a:stretch>
        </p:blipFill>
        <p:spPr>
          <a:xfrm>
            <a:off x="9003782" y="1582760"/>
            <a:ext cx="3156155" cy="391575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3A0E918-B9E5-4B6C-97C3-E470B643E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55" y="3396952"/>
            <a:ext cx="4332426" cy="3393749"/>
          </a:xfrm>
          <a:prstGeom prst="rect">
            <a:avLst/>
          </a:prstGeom>
        </p:spPr>
      </p:pic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97597DD8-9543-20B6-46C3-8377906DBC76}"/>
              </a:ext>
            </a:extLst>
          </p:cNvPr>
          <p:cNvCxnSpPr>
            <a:cxnSpLocks/>
          </p:cNvCxnSpPr>
          <p:nvPr/>
        </p:nvCxnSpPr>
        <p:spPr>
          <a:xfrm rot="5400000">
            <a:off x="4663700" y="3337450"/>
            <a:ext cx="743198" cy="598263"/>
          </a:xfrm>
          <a:prstGeom prst="curvedConnector3">
            <a:avLst>
              <a:gd name="adj1" fmla="val 1079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F5669A5-A907-868B-EA06-38AA81244C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40" t="12281" r="717"/>
          <a:stretch>
            <a:fillRect/>
          </a:stretch>
        </p:blipFill>
        <p:spPr>
          <a:xfrm>
            <a:off x="5338777" y="4170464"/>
            <a:ext cx="2256133" cy="1119614"/>
          </a:xfrm>
          <a:prstGeom prst="rect">
            <a:avLst/>
          </a:prstGeom>
        </p:spPr>
      </p:pic>
      <p:sp>
        <p:nvSpPr>
          <p:cNvPr id="6" name="TextBox 5">
            <a:hlinkClick r:id="rId5"/>
            <a:extLst>
              <a:ext uri="{FF2B5EF4-FFF2-40B4-BE49-F238E27FC236}">
                <a16:creationId xmlns:a16="http://schemas.microsoft.com/office/drawing/2014/main" id="{D6CA8774-ED00-ADEC-EA76-0742AAF6DA19}"/>
              </a:ext>
            </a:extLst>
          </p:cNvPr>
          <p:cNvSpPr txBox="1"/>
          <p:nvPr/>
        </p:nvSpPr>
        <p:spPr>
          <a:xfrm>
            <a:off x="4736167" y="5718065"/>
            <a:ext cx="449180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1400">
                <a:solidFill>
                  <a:schemeClr val="bg1"/>
                </a:solidFill>
                <a:latin typeface="Century Schoolbook"/>
                <a:cs typeface="Segoe U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1º- https://www.frontiersin.org/journals/plant-science/articles/10.3389/fpls.2025.1616656/full</a:t>
            </a:r>
            <a:r>
              <a:rPr lang="en-US" sz="1400">
                <a:solidFill>
                  <a:schemeClr val="bg1"/>
                </a:solidFill>
                <a:latin typeface="Century Schoolbook"/>
                <a:cs typeface="Segoe UI"/>
              </a:rPr>
              <a:t>: </a:t>
            </a:r>
            <a:r>
              <a:rPr lang="en-US" sz="1400" err="1">
                <a:solidFill>
                  <a:schemeClr val="bg1"/>
                </a:solidFill>
                <a:latin typeface="Century Schoolbook"/>
                <a:cs typeface="Segoe UI"/>
              </a:rPr>
              <a:t>consultado</a:t>
            </a:r>
            <a:r>
              <a:rPr lang="en-US" sz="1400">
                <a:solidFill>
                  <a:schemeClr val="bg1"/>
                </a:solidFill>
                <a:latin typeface="Century Schoolbook"/>
                <a:cs typeface="Segoe UI"/>
              </a:rPr>
              <a:t> a 13/10/2026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C6BC6EA2-2807-0456-A607-B565FFD62CD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245052" y="5012899"/>
            <a:ext cx="943789" cy="554084"/>
          </a:xfrm>
          <a:prstGeom prst="curvedConnector3">
            <a:avLst>
              <a:gd name="adj1" fmla="val 1018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99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2CD2-B766-DF16-DF66-AC12C724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F28BED-5DB0-9236-6460-527EB67945F0}"/>
              </a:ext>
            </a:extLst>
          </p:cNvPr>
          <p:cNvSpPr/>
          <p:nvPr/>
        </p:nvSpPr>
        <p:spPr>
          <a:xfrm>
            <a:off x="-4461" y="1115"/>
            <a:ext cx="1226003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9" name="Picture 28" descr="dry autumn damaged leaf 29167418 PNG">
            <a:extLst>
              <a:ext uri="{FF2B5EF4-FFF2-40B4-BE49-F238E27FC236}">
                <a16:creationId xmlns:a16="http://schemas.microsoft.com/office/drawing/2014/main" id="{29FD327B-710C-0E6E-7AA8-9D9EF09E3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" t="-129" r="44459" b="-61"/>
          <a:stretch>
            <a:fillRect/>
          </a:stretch>
        </p:blipFill>
        <p:spPr>
          <a:xfrm rot="5820000">
            <a:off x="2316670" y="-1634433"/>
            <a:ext cx="3598616" cy="7431724"/>
          </a:xfrm>
          <a:prstGeom prst="rect">
            <a:avLst/>
          </a:prstGeom>
        </p:spPr>
      </p:pic>
      <p:pic>
        <p:nvPicPr>
          <p:cNvPr id="26" name="Picture 25" descr="Green Leaf PNG Transparent Images Free Download | Vector Files | Pngtree">
            <a:extLst>
              <a:ext uri="{FF2B5EF4-FFF2-40B4-BE49-F238E27FC236}">
                <a16:creationId xmlns:a16="http://schemas.microsoft.com/office/drawing/2014/main" id="{0F146011-8428-2F94-54BC-4EFEA7392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14" r="50347"/>
          <a:stretch>
            <a:fillRect/>
          </a:stretch>
        </p:blipFill>
        <p:spPr>
          <a:xfrm rot="-5400000">
            <a:off x="2159589" y="1719059"/>
            <a:ext cx="3405189" cy="687269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07210EE-7E23-81D0-A062-5D1F12CDA402}"/>
              </a:ext>
            </a:extLst>
          </p:cNvPr>
          <p:cNvSpPr/>
          <p:nvPr/>
        </p:nvSpPr>
        <p:spPr>
          <a:xfrm rot="13500000">
            <a:off x="-1031170" y="-4349530"/>
            <a:ext cx="15916711" cy="15581359"/>
          </a:xfrm>
          <a:prstGeom prst="pie">
            <a:avLst/>
          </a:prstGeom>
          <a:solidFill>
            <a:schemeClr val="accent6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1AB2B0-40CD-8EC5-3FC7-631422E056A0}"/>
              </a:ext>
            </a:extLst>
          </p:cNvPr>
          <p:cNvSpPr txBox="1"/>
          <p:nvPr/>
        </p:nvSpPr>
        <p:spPr>
          <a:xfrm>
            <a:off x="205893" y="6189086"/>
            <a:ext cx="1155911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>
                <a:solidFill>
                  <a:schemeClr val="bg1"/>
                </a:solidFill>
                <a:latin typeface="Century Schoolbook"/>
              </a:rPr>
              <a:t>Margarida Correia 63455</a:t>
            </a:r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516113-574A-46E5-4354-670D50E9A138}"/>
              </a:ext>
            </a:extLst>
          </p:cNvPr>
          <p:cNvSpPr/>
          <p:nvPr/>
        </p:nvSpPr>
        <p:spPr>
          <a:xfrm>
            <a:off x="6095529" y="2862943"/>
            <a:ext cx="1151165" cy="113211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71FC54-8058-968A-274C-690209903FC0}"/>
              </a:ext>
            </a:extLst>
          </p:cNvPr>
          <p:cNvSpPr txBox="1"/>
          <p:nvPr/>
        </p:nvSpPr>
        <p:spPr>
          <a:xfrm>
            <a:off x="5105828" y="994086"/>
            <a:ext cx="6851935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GB" sz="32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Y response (continuous</a:t>
            </a:r>
            <a:r>
              <a:rPr lang="en-GB" sz="320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)</a:t>
            </a:r>
            <a:endParaRPr lang="en-US" sz="3200">
              <a:solidFill>
                <a:schemeClr val="bg1"/>
              </a:solidFill>
              <a:latin typeface="Neue Haas Grotesk Text Pro"/>
              <a:ea typeface="Segoe UI"/>
              <a:cs typeface="Segoe UI"/>
            </a:endParaRPr>
          </a:p>
          <a:p>
            <a:pPr algn="r"/>
            <a:r>
              <a:rPr lang="en-GB" sz="240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Comprimento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da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folha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(cm)</a:t>
            </a:r>
            <a:r>
              <a:rPr lang="en-GB" sz="2400" b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​</a:t>
            </a:r>
            <a:endParaRPr lang="en-US" sz="2400">
              <a:solidFill>
                <a:schemeClr val="bg1"/>
              </a:solidFill>
            </a:endParaRPr>
          </a:p>
          <a:p>
            <a:pPr algn="r"/>
            <a:endParaRPr lang="en-GB" sz="2400">
              <a:solidFill>
                <a:schemeClr val="bg1"/>
              </a:solidFill>
              <a:latin typeface="Century Schoolbook"/>
              <a:ea typeface="Segoe UI"/>
              <a:cs typeface="Segoe UI"/>
            </a:endParaRPr>
          </a:p>
          <a:p>
            <a:pPr algn="r"/>
            <a:r>
              <a:rPr lang="en-GB" sz="32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X1 explanatory (binary</a:t>
            </a:r>
            <a:r>
              <a:rPr lang="en-GB" sz="320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)</a:t>
            </a:r>
          </a:p>
          <a:p>
            <a:pPr algn="r"/>
            <a:r>
              <a:rPr lang="en-GB" sz="240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Presença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de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danos</a:t>
            </a:r>
            <a:endParaRPr lang="en-GB" sz="2400">
              <a:solidFill>
                <a:schemeClr val="bg1"/>
              </a:solidFill>
              <a:latin typeface="Neue Haas Grotesk Text Pro"/>
              <a:ea typeface="Segoe UI"/>
              <a:cs typeface="Segoe UI"/>
            </a:endParaRPr>
          </a:p>
          <a:p>
            <a:pPr algn="r"/>
            <a:r>
              <a:rPr lang="en-GB" sz="2400" b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​</a:t>
            </a:r>
            <a:endParaRPr lang="en-GB" sz="2400">
              <a:solidFill>
                <a:schemeClr val="bg1"/>
              </a:solidFill>
            </a:endParaRPr>
          </a:p>
          <a:p>
            <a:pPr algn="r"/>
            <a:r>
              <a:rPr lang="en-GB" sz="32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X2 explanatory (categorical</a:t>
            </a:r>
            <a:r>
              <a:rPr lang="en-GB" sz="320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)</a:t>
            </a:r>
          </a:p>
          <a:p>
            <a:pPr algn="r"/>
            <a:r>
              <a:rPr lang="en-GB" sz="240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Espécie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de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árvore</a:t>
            </a:r>
            <a:r>
              <a:rPr lang="en-GB" sz="2400" b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​</a:t>
            </a:r>
            <a:endParaRPr lang="en-GB" sz="2400">
              <a:solidFill>
                <a:schemeClr val="bg1"/>
              </a:solidFill>
              <a:latin typeface="Century Schoolbook"/>
              <a:ea typeface="Segoe UI"/>
              <a:cs typeface="Segoe UI"/>
            </a:endParaRPr>
          </a:p>
          <a:p>
            <a:pPr algn="r"/>
            <a:endParaRPr lang="en-GB" sz="2400">
              <a:solidFill>
                <a:schemeClr val="bg1"/>
              </a:solidFill>
              <a:latin typeface="Century Schoolbook"/>
              <a:ea typeface="Segoe UI"/>
              <a:cs typeface="Segoe UI"/>
            </a:endParaRPr>
          </a:p>
          <a:p>
            <a:pPr algn="r"/>
            <a:r>
              <a:rPr lang="en-GB" sz="32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X3 explanatory (continuous</a:t>
            </a:r>
            <a:r>
              <a:rPr lang="en-GB" sz="320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)</a:t>
            </a:r>
          </a:p>
          <a:p>
            <a:pPr algn="r"/>
            <a:r>
              <a:rPr lang="en-GB" sz="240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Altura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da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folha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relativamente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ao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</a:t>
            </a:r>
            <a:r>
              <a:rPr lang="en-GB" sz="2400" b="0" u="none" strike="noStrike" baseline="0" err="1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chão</a:t>
            </a:r>
            <a:r>
              <a:rPr lang="en-GB" sz="2400" b="0" u="none" strike="noStrike" baseline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 (cm)</a:t>
            </a:r>
            <a:r>
              <a:rPr lang="en-GB" sz="2400" b="0">
                <a:solidFill>
                  <a:schemeClr val="bg1"/>
                </a:solidFill>
                <a:latin typeface="Century Schoolbook"/>
                <a:ea typeface="Segoe UI"/>
                <a:cs typeface="Segoe UI"/>
              </a:rPr>
              <a:t>​</a:t>
            </a:r>
            <a:endParaRPr lang="en-GB" sz="2400">
              <a:solidFill>
                <a:schemeClr val="bg1"/>
              </a:solidFill>
              <a:latin typeface="Century Schoolbook"/>
            </a:endParaRPr>
          </a:p>
          <a:p>
            <a:pPr algn="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780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E219F-D9AB-76D6-F4C2-987062BD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EE854D-4A9C-EC31-2205-754EA4EAE0EE}"/>
              </a:ext>
            </a:extLst>
          </p:cNvPr>
          <p:cNvSpPr/>
          <p:nvPr/>
        </p:nvSpPr>
        <p:spPr>
          <a:xfrm>
            <a:off x="-4461" y="1115"/>
            <a:ext cx="1226003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Transparent PNG of Compass large resoluti 2105x2101 #103401 | PNGimg">
            <a:extLst>
              <a:ext uri="{FF2B5EF4-FFF2-40B4-BE49-F238E27FC236}">
                <a16:creationId xmlns:a16="http://schemas.microsoft.com/office/drawing/2014/main" id="{35FF0612-0063-3CDC-590E-C3111237F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320000">
            <a:off x="6104833" y="851247"/>
            <a:ext cx="5476240" cy="544054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35CE4C3-4A41-7698-CA51-69CEFA198523}"/>
              </a:ext>
            </a:extLst>
          </p:cNvPr>
          <p:cNvSpPr/>
          <p:nvPr/>
        </p:nvSpPr>
        <p:spPr>
          <a:xfrm rot="2760000">
            <a:off x="-1031170" y="-4349530"/>
            <a:ext cx="15916711" cy="15581359"/>
          </a:xfrm>
          <a:prstGeom prst="pie">
            <a:avLst/>
          </a:prstGeom>
          <a:solidFill>
            <a:schemeClr val="accent6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060A27-287F-5A1E-ED8E-277DCE622B44}"/>
              </a:ext>
            </a:extLst>
          </p:cNvPr>
          <p:cNvSpPr txBox="1"/>
          <p:nvPr/>
        </p:nvSpPr>
        <p:spPr>
          <a:xfrm>
            <a:off x="5466788" y="6491644"/>
            <a:ext cx="478578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entury Schoolbook"/>
              </a:rPr>
              <a:t>Inês Silva 63418,  Mariana Caeiro 63434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54DD36-5069-CC86-10A1-E3E085D7FCD5}"/>
              </a:ext>
            </a:extLst>
          </p:cNvPr>
          <p:cNvSpPr/>
          <p:nvPr/>
        </p:nvSpPr>
        <p:spPr>
          <a:xfrm>
            <a:off x="6095529" y="2862943"/>
            <a:ext cx="1151165" cy="1132115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8E3DC-9C5A-A4F1-8DCE-A41FF141F53A}"/>
              </a:ext>
            </a:extLst>
          </p:cNvPr>
          <p:cNvSpPr txBox="1"/>
          <p:nvPr/>
        </p:nvSpPr>
        <p:spPr>
          <a:xfrm>
            <a:off x="1131335" y="503141"/>
            <a:ext cx="6851935" cy="5416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err="1">
                <a:solidFill>
                  <a:schemeClr val="bg1"/>
                </a:solidFill>
                <a:latin typeface="Century Schoolbook"/>
                <a:cs typeface="Segoe UI"/>
              </a:rPr>
              <a:t>Medir</a:t>
            </a:r>
            <a:r>
              <a:rPr lang="en-GB" sz="3200">
                <a:solidFill>
                  <a:schemeClr val="bg1"/>
                </a:solidFill>
                <a:latin typeface="Century Schoolbook"/>
                <a:cs typeface="Segoe UI"/>
              </a:rPr>
              <a:t>:</a:t>
            </a:r>
          </a:p>
          <a:p>
            <a:pPr marL="457200" indent="-457200">
              <a:buFont typeface="Arial"/>
              <a:buChar char="•"/>
            </a:pP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o 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comprimento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 da 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folha</a:t>
            </a:r>
            <a:endParaRPr lang="en-GB" sz="2800">
              <a:solidFill>
                <a:schemeClr val="bg1"/>
              </a:solidFill>
              <a:latin typeface="Neue Haas Grotesk Text Pro"/>
              <a:cs typeface="Segoe UI"/>
            </a:endParaRPr>
          </a:p>
          <a:p>
            <a:pPr marL="457200" indent="-457200">
              <a:buFont typeface="Arial"/>
              <a:buChar char="•"/>
            </a:pP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distância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 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desta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 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ao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 solo</a:t>
            </a:r>
            <a:endParaRPr lang="en-GB" sz="2800">
              <a:solidFill>
                <a:schemeClr val="bg1"/>
              </a:solidFill>
              <a:latin typeface="Neue Haas Grotesk Text Pro"/>
              <a:cs typeface="Segoe UI"/>
            </a:endParaRPr>
          </a:p>
          <a:p>
            <a:endParaRPr lang="en-GB">
              <a:solidFill>
                <a:schemeClr val="bg1"/>
              </a:solidFill>
              <a:latin typeface="Neue Haas Grotesk Text Pro"/>
              <a:cs typeface="Segoe UI"/>
            </a:endParaRPr>
          </a:p>
          <a:p>
            <a:r>
              <a:rPr lang="en-GB" sz="3200" err="1">
                <a:solidFill>
                  <a:schemeClr val="bg1"/>
                </a:solidFill>
                <a:latin typeface="Century Schoolbook"/>
                <a:cs typeface="Segoe UI"/>
              </a:rPr>
              <a:t>Presença</a:t>
            </a:r>
            <a:r>
              <a:rPr lang="en-GB" sz="3200">
                <a:solidFill>
                  <a:schemeClr val="bg1"/>
                </a:solidFill>
                <a:latin typeface="Century Schoolbook"/>
                <a:cs typeface="Segoe UI"/>
              </a:rPr>
              <a:t> de </a:t>
            </a:r>
            <a:r>
              <a:rPr lang="en-GB" sz="3200" err="1">
                <a:solidFill>
                  <a:schemeClr val="bg1"/>
                </a:solidFill>
                <a:latin typeface="Century Schoolbook"/>
                <a:cs typeface="Segoe UI"/>
              </a:rPr>
              <a:t>danos</a:t>
            </a:r>
            <a:r>
              <a:rPr lang="en-GB" sz="3200">
                <a:solidFill>
                  <a:schemeClr val="bg1"/>
                </a:solidFill>
                <a:latin typeface="Century Schoolbook"/>
                <a:cs typeface="Segoe UI"/>
              </a:rPr>
              <a:t>: </a:t>
            </a:r>
            <a:endParaRPr lang="en-GB" sz="2800">
              <a:solidFill>
                <a:schemeClr val="bg1"/>
              </a:solidFill>
              <a:latin typeface="Neue Haas Grotesk Text Pro"/>
              <a:cs typeface="Segoe UI"/>
            </a:endParaRPr>
          </a:p>
          <a:p>
            <a:pPr marL="457200" indent="-457200">
              <a:buFont typeface="Arial"/>
              <a:buChar char="•"/>
            </a:pP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Sim 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ou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 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Não</a:t>
            </a:r>
            <a:endParaRPr lang="en-GB" sz="2800" err="1">
              <a:solidFill>
                <a:schemeClr val="bg1"/>
              </a:solidFill>
              <a:latin typeface="Neue Haas Grotesk Text Pro"/>
              <a:cs typeface="Segoe UI"/>
            </a:endParaRPr>
          </a:p>
          <a:p>
            <a:endParaRPr lang="en-GB" sz="3200">
              <a:solidFill>
                <a:schemeClr val="bg1"/>
              </a:solidFill>
              <a:latin typeface="Century Schoolbook"/>
              <a:cs typeface="Segoe UI"/>
            </a:endParaRPr>
          </a:p>
          <a:p>
            <a:r>
              <a:rPr lang="en-GB" sz="3200">
                <a:solidFill>
                  <a:schemeClr val="bg1"/>
                </a:solidFill>
                <a:latin typeface="Century Schoolbook"/>
                <a:cs typeface="Segoe UI"/>
              </a:rPr>
              <a:t>Random e Confounding:</a:t>
            </a:r>
          </a:p>
          <a:p>
            <a:pPr marL="457200" indent="-457200">
              <a:buFont typeface="Arial"/>
              <a:buChar char="•"/>
            </a:pP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Árvores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 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espaçadas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 </a:t>
            </a:r>
          </a:p>
          <a:p>
            <a:pPr marL="457200" indent="-457200">
              <a:buFont typeface="Arial"/>
              <a:buChar char="•"/>
            </a:pP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Folhas</a:t>
            </a:r>
            <a:r>
              <a:rPr lang="en-GB" sz="2800">
                <a:solidFill>
                  <a:schemeClr val="bg1"/>
                </a:solidFill>
                <a:latin typeface="Century Schoolbook"/>
                <a:cs typeface="Segoe UI"/>
              </a:rPr>
              <a:t> </a:t>
            </a:r>
            <a:r>
              <a:rPr lang="en-GB" sz="2800" err="1">
                <a:solidFill>
                  <a:schemeClr val="bg1"/>
                </a:solidFill>
                <a:latin typeface="Century Schoolbook"/>
                <a:cs typeface="Segoe UI"/>
              </a:rPr>
              <a:t>maduras</a:t>
            </a:r>
            <a:endParaRPr lang="en-GB" sz="2800">
              <a:solidFill>
                <a:schemeClr val="bg1"/>
              </a:solidFill>
              <a:latin typeface="Century Schoolbook"/>
              <a:cs typeface="Segoe UI"/>
            </a:endParaRPr>
          </a:p>
          <a:p>
            <a:endParaRPr lang="en-GB" sz="2800">
              <a:solidFill>
                <a:schemeClr val="bg1"/>
              </a:solidFill>
              <a:latin typeface="Century Schoolbook"/>
              <a:cs typeface="Segoe UI"/>
            </a:endParaRPr>
          </a:p>
          <a:p>
            <a:pPr>
              <a:buFont typeface="Arial"/>
            </a:pPr>
            <a:r>
              <a:rPr lang="en-GB" sz="3200">
                <a:solidFill>
                  <a:schemeClr val="bg1"/>
                </a:solidFill>
                <a:latin typeface="Century Schoolbook"/>
                <a:cs typeface="Segoe UI"/>
              </a:rPr>
              <a:t>Causa-</a:t>
            </a:r>
            <a:r>
              <a:rPr lang="en-GB" sz="3200" err="1">
                <a:solidFill>
                  <a:schemeClr val="bg1"/>
                </a:solidFill>
                <a:latin typeface="Century Schoolbook"/>
                <a:cs typeface="Segoe UI"/>
              </a:rPr>
              <a:t>efeito</a:t>
            </a:r>
            <a:endParaRPr lang="en-GB" err="1">
              <a:solidFill>
                <a:schemeClr val="bg1"/>
              </a:solidFill>
            </a:endParaRPr>
          </a:p>
        </p:txBody>
      </p:sp>
      <p:pic>
        <p:nvPicPr>
          <p:cNvPr id="4" name="Picture 3" descr="tools measure tape 13825953 PNG">
            <a:extLst>
              <a:ext uri="{FF2B5EF4-FFF2-40B4-BE49-F238E27FC236}">
                <a16:creationId xmlns:a16="http://schemas.microsoft.com/office/drawing/2014/main" id="{39D64DB9-23BD-1090-B250-0335E4E060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8" t="11290" r="382" b="70"/>
          <a:stretch>
            <a:fillRect/>
          </a:stretch>
        </p:blipFill>
        <p:spPr>
          <a:xfrm rot="13620000">
            <a:off x="7572796" y="-2110632"/>
            <a:ext cx="3330543" cy="6097694"/>
          </a:xfrm>
          <a:prstGeom prst="rect">
            <a:avLst/>
          </a:prstGeom>
        </p:spPr>
      </p:pic>
      <p:pic>
        <p:nvPicPr>
          <p:cNvPr id="8" name="Picture 7" descr="Danger sign - Free signaling icons">
            <a:extLst>
              <a:ext uri="{FF2B5EF4-FFF2-40B4-BE49-F238E27FC236}">
                <a16:creationId xmlns:a16="http://schemas.microsoft.com/office/drawing/2014/main" id="{06FCD712-66B8-C822-8B53-02BAF2A53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5992" y="5167119"/>
            <a:ext cx="679869" cy="7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3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Helena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Hele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2AA43FC-FF72-4BE6-A7C0-5B486BC0EA47}" vid="{908FED91-6E54-4E47-9D95-B0E10BE282F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86BA7A74561F48822058C94EFB3214" ma:contentTypeVersion="5" ma:contentTypeDescription="Create a new document." ma:contentTypeScope="" ma:versionID="88f38739fc34b411d104d760786190a9">
  <xsd:schema xmlns:xsd="http://www.w3.org/2001/XMLSchema" xmlns:xs="http://www.w3.org/2001/XMLSchema" xmlns:p="http://schemas.microsoft.com/office/2006/metadata/properties" xmlns:ns3="d0b2d3b4-5c95-4381-b5af-b7f82ee315ca" targetNamespace="http://schemas.microsoft.com/office/2006/metadata/properties" ma:root="true" ma:fieldsID="fc6e5840bd4cb11430568678d853aa6f" ns3:_="">
    <xsd:import namespace="d0b2d3b4-5c95-4381-b5af-b7f82ee315c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b2d3b4-5c95-4381-b5af-b7f82ee315c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b2d3b4-5c95-4381-b5af-b7f82ee315ca" xsi:nil="true"/>
  </documentManagement>
</p:properties>
</file>

<file path=customXml/itemProps1.xml><?xml version="1.0" encoding="utf-8"?>
<ds:datastoreItem xmlns:ds="http://schemas.openxmlformats.org/officeDocument/2006/customXml" ds:itemID="{4A074A35-084A-4CD4-9C0C-ACBEA6D4F1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880117-3094-4A26-AEA5-6A196DAA13E4}">
  <ds:schemaRefs>
    <ds:schemaRef ds:uri="d0b2d3b4-5c95-4381-b5af-b7f82ee315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5532ED3-30FA-47FA-9F74-0244CC1EA2E7}">
  <ds:schemaRefs>
    <ds:schemaRef ds:uri="d0b2d3b4-5c95-4381-b5af-b7f82ee315c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Helena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Marques</dc:creator>
  <cp:revision>2</cp:revision>
  <dcterms:created xsi:type="dcterms:W3CDTF">2026-10-06T21:49:08Z</dcterms:created>
  <dcterms:modified xsi:type="dcterms:W3CDTF">2026-10-22T10:52:03Z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0x010100EA86BA7A74561F48822058C94EFB3214</vt:lpwstr>
  </property>
</Properties>
</file>